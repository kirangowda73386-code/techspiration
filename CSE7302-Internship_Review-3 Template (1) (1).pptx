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9" r:id="rId2"/>
    <p:sldId id="270" r:id="rId3"/>
    <p:sldId id="261" r:id="rId4"/>
    <p:sldId id="262" r:id="rId5"/>
    <p:sldId id="263" r:id="rId6"/>
    <p:sldId id="264" r:id="rId7"/>
    <p:sldId id="265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D29BEB-A5FA-4112-B9CF-BBF3EE800E54}" v="226" dt="2026-03-04T05:29:36.6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7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pPr algn="l" rtl="0"/>
          <a:r>
            <a:rPr lang="en-US" dirty="0">
              <a:latin typeface="Times New Roman"/>
              <a:cs typeface="Times New Roman"/>
            </a:rPr>
            <a:t>Review 1</a:t>
          </a:r>
          <a:endParaRPr lang="en-US" dirty="0"/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phldr="0"/>
      <dgm:spPr/>
      <dgm:t>
        <a:bodyPr/>
        <a:lstStyle/>
        <a:p>
          <a:pPr algn="l" rtl="0"/>
          <a:r>
            <a:rPr lang="en-US" dirty="0"/>
            <a:t>Analysis and research on Drive Genie application concept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phldr="0"/>
      <dgm:spPr/>
      <dgm:t>
        <a:bodyPr/>
        <a:lstStyle/>
        <a:p>
          <a:pPr rtl="0"/>
          <a:r>
            <a:rPr lang="en-US" dirty="0"/>
            <a:t>Development of frontend mobile screens using Flutter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0"/>
      <dgm:spPr/>
      <dgm:t>
        <a:bodyPr/>
        <a:lstStyle/>
        <a:p>
          <a:pPr rtl="0"/>
          <a:r>
            <a:rPr lang="en-US" b="1" dirty="0"/>
            <a:t>Testing and debugging</a:t>
          </a:r>
          <a:r>
            <a:rPr lang="en-US" dirty="0"/>
            <a:t> of application modules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6190BC25-62A2-4336-A02B-C043A28E0396}">
      <dgm:prSet phldr="0"/>
      <dgm:spPr/>
      <dgm:t>
        <a:bodyPr/>
        <a:lstStyle/>
        <a:p>
          <a:pPr algn="l" rtl="0"/>
          <a:r>
            <a:rPr lang="en-US" dirty="0"/>
            <a:t>Understanding service workflow, user roles, and system requirements</a:t>
          </a:r>
          <a:endParaRPr lang="en-US" dirty="0">
            <a:latin typeface="Calibri Light"/>
            <a:ea typeface="Calibri Light"/>
            <a:cs typeface="Calibri Light"/>
          </a:endParaRPr>
        </a:p>
      </dgm:t>
    </dgm:pt>
    <dgm:pt modelId="{1BED75A7-54C3-4C8F-ADB3-78337D3A8145}" type="parTrans" cxnId="{768EE632-B51D-40E7-8119-DD267FDE43CA}">
      <dgm:prSet/>
      <dgm:spPr/>
    </dgm:pt>
    <dgm:pt modelId="{009392D4-FB8F-44EC-93D3-70D1F3681E54}" type="sibTrans" cxnId="{768EE632-B51D-40E7-8119-DD267FDE43CA}">
      <dgm:prSet/>
      <dgm:spPr/>
    </dgm:pt>
    <dgm:pt modelId="{4AB9FC9C-14D0-4D07-A271-D66633FBD622}">
      <dgm:prSet phldr="0"/>
      <dgm:spPr/>
      <dgm:t>
        <a:bodyPr/>
        <a:lstStyle/>
        <a:p>
          <a:pPr rtl="0"/>
          <a:r>
            <a:rPr lang="en-US" dirty="0"/>
            <a:t>Integration of booking flow and basic APIs</a:t>
          </a:r>
          <a:endParaRPr lang="en-US" dirty="0">
            <a:latin typeface="Calibri Light"/>
            <a:ea typeface="Calibri Light"/>
            <a:cs typeface="Calibri Light"/>
          </a:endParaRPr>
        </a:p>
      </dgm:t>
    </dgm:pt>
    <dgm:pt modelId="{747CCBE6-AEEE-4B43-BF77-35A95FA8E582}" type="parTrans" cxnId="{3A53B84C-7EFC-49C9-9A24-24EFBB140462}">
      <dgm:prSet/>
      <dgm:spPr/>
    </dgm:pt>
    <dgm:pt modelId="{874FF4C1-07AC-4CED-9251-478E60C16644}" type="sibTrans" cxnId="{3A53B84C-7EFC-49C9-9A24-24EFBB140462}">
      <dgm:prSet/>
      <dgm:spPr/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54620F06-7443-459A-B5C1-58D212840666}" type="pres">
      <dgm:prSet presAssocID="{65C051F6-A849-4495-A964-CD4C650B9C06}" presName="ChildAccent5" presStyleCnt="0"/>
      <dgm:spPr/>
    </dgm:pt>
    <dgm:pt modelId="{5B2A7C35-2C9A-4C3B-9FBD-D6947B22EB71}" type="pres">
      <dgm:prSet presAssocID="{65C051F6-A849-4495-A964-CD4C650B9C06}" presName="ChildAccent" presStyleLbl="alignImgPlace1" presStyleIdx="0" presStyleCnt="5"/>
      <dgm:spPr/>
    </dgm:pt>
    <dgm:pt modelId="{D801E8EE-2A7C-4935-9631-29D091B17162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52644D60-E835-4F4E-9AAF-4FFC379CE023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D8DBF041-87E9-4557-BA3E-F55695272A3C}" type="pres">
      <dgm:prSet presAssocID="{5E92505A-51E0-4F78-B3C5-704ACF8710DE}" presName="ChildAccent4" presStyleCnt="0"/>
      <dgm:spPr/>
    </dgm:pt>
    <dgm:pt modelId="{87EEB0F6-DD20-4527-BA59-BCAAE1E3CFC5}" type="pres">
      <dgm:prSet presAssocID="{5E92505A-51E0-4F78-B3C5-704ACF8710DE}" presName="ChildAccent" presStyleLbl="alignImgPlace1" presStyleIdx="1" presStyleCnt="5"/>
      <dgm:spPr/>
    </dgm:pt>
    <dgm:pt modelId="{EA55A486-B9D0-4073-9428-1BF8A1D2CA76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4A0B731-360C-4D52-9B2C-0ABDCA14889B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0AF26758-04C8-4432-9CF9-027BB944024D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7A6C0604-203C-4073-A41D-1E055D99CA40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D5312D36-6EFC-42D2-B577-7C07C0BCCB43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B201F995-8FF8-46FF-9B47-0A39550D2D87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F370722A-5E7A-4072-9E75-3872E8DEC19E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05B90A8-F95A-4FAC-B632-3897CC5FFCF7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46D56122-7DCB-42FF-9A27-8B5B59F94141}" type="presOf" srcId="{73DB572E-062D-41AD-8033-D361B8E583DB}" destId="{2532504F-5FE1-4C97-B485-F05E8885EACC}" srcOrd="1" destOrd="0" presId="urn:microsoft.com/office/officeart/2011/layout/InterconnectedBlockProcess"/>
    <dgm:cxn modelId="{A8850E31-5E26-4A46-93C0-7BB01F7082DE}" type="presOf" srcId="{A59EC69B-8F3F-425B-819F-E8C557946AEE}" destId="{D5312D36-6EFC-42D2-B577-7C07C0BCCB43}" srcOrd="0" destOrd="0" presId="urn:microsoft.com/office/officeart/2011/layout/InterconnectedBlockProcess"/>
    <dgm:cxn modelId="{768EE632-B51D-40E7-8119-DD267FDE43CA}" srcId="{988D96B0-D16E-4763-B393-84178CF4FF50}" destId="{6190BC25-62A2-4336-A02B-C043A28E0396}" srcOrd="1" destOrd="0" parTransId="{1BED75A7-54C3-4C8F-ADB3-78337D3A8145}" sibTransId="{009392D4-FB8F-44EC-93D3-70D1F3681E54}"/>
    <dgm:cxn modelId="{812EF85B-BE69-44C2-96A5-F5E501F8E593}" type="presOf" srcId="{9FED87C4-3F3B-4A18-9185-9F80CFEDEA2E}" destId="{F370722A-5E7A-4072-9E75-3872E8DEC19E}" srcOrd="0" destOrd="0" presId="urn:microsoft.com/office/officeart/2011/layout/InterconnectedBlockProcess"/>
    <dgm:cxn modelId="{37249F60-3DAB-4128-A66F-E5D4E7866431}" type="presOf" srcId="{9FED87C4-3F3B-4A18-9185-9F80CFEDEA2E}" destId="{06F8D57B-EDF4-4CF4-8700-DC2CA3E3028E}" srcOrd="1" destOrd="0" presId="urn:microsoft.com/office/officeart/2011/layout/InterconnectedBlockProcess"/>
    <dgm:cxn modelId="{3A53B84C-7EFC-49C9-9A24-24EFBB140462}" srcId="{7B3055AA-BF7C-46D0-9A9E-60087B9F57B4}" destId="{4AB9FC9C-14D0-4D07-A271-D66633FBD622}" srcOrd="1" destOrd="0" parTransId="{747CCBE6-AEEE-4B43-BF77-35A95FA8E582}" sibTransId="{874FF4C1-07AC-4CED-9251-478E60C16644}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AC7BBB80-17F6-426E-9508-602B382ACA82}" type="presOf" srcId="{6190BC25-62A2-4336-A02B-C043A28E0396}" destId="{A134CDD1-D85F-44EF-8BEE-9F99A855C1E6}" srcOrd="1" destOrd="1" presId="urn:microsoft.com/office/officeart/2011/layout/InterconnectedBlockProcess"/>
    <dgm:cxn modelId="{5595BB82-9C53-4537-A416-7E557F731F73}" type="presOf" srcId="{4AB9FC9C-14D0-4D07-A271-D66633FBD622}" destId="{F370722A-5E7A-4072-9E75-3872E8DEC19E}" srcOrd="0" destOrd="1" presId="urn:microsoft.com/office/officeart/2011/layout/InterconnectedBlockProcess"/>
    <dgm:cxn modelId="{7945CA89-8447-49F3-9582-CC9415475D6D}" type="presOf" srcId="{988D96B0-D16E-4763-B393-84178CF4FF50}" destId="{65257024-FAC0-4522-B139-1CC85B547BE8}" srcOrd="0" destOrd="0" presId="urn:microsoft.com/office/officeart/2011/layout/InterconnectedBlockProcess"/>
    <dgm:cxn modelId="{C9E5628F-8F8C-4551-A39B-E0222A1FD3EC}" type="presOf" srcId="{D471E45F-B026-44AA-9616-57E786AE80AF}" destId="{1C91D7E3-8940-4A33-9182-677DD5415901}" srcOrd="0" destOrd="0" presId="urn:microsoft.com/office/officeart/2011/layout/InterconnectedBlockProcess"/>
    <dgm:cxn modelId="{E7F25490-2512-4756-8D06-0B0E63AFF1CF}" type="presOf" srcId="{D471E45F-B026-44AA-9616-57E786AE80AF}" destId="{A134CDD1-D85F-44EF-8BEE-9F99A855C1E6}" srcOrd="1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39FE999F-4334-4A58-A299-315DA300443A}" type="presOf" srcId="{7B3055AA-BF7C-46D0-9A9E-60087B9F57B4}" destId="{A05B90A8-F95A-4FAC-B632-3897CC5FFCF7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8EE5D9C7-6102-4A94-94D6-77C561AF379E}" type="presOf" srcId="{4AB9FC9C-14D0-4D07-A271-D66633FBD622}" destId="{06F8D57B-EDF4-4CF4-8700-DC2CA3E3028E}" srcOrd="1" destOrd="1" presId="urn:microsoft.com/office/officeart/2011/layout/InterconnectedBlockProcess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D70561D4-3158-4FC5-843F-E033CA4902A9}" type="presOf" srcId="{73DB572E-062D-41AD-8033-D361B8E583DB}" destId="{7A6C0604-203C-4073-A41D-1E055D99CA40}" srcOrd="0" destOrd="0" presId="urn:microsoft.com/office/officeart/2011/layout/InterconnectedBlockProcess"/>
    <dgm:cxn modelId="{CBB214DD-BE31-41CE-B04E-E44A7183B1BC}" type="presOf" srcId="{6190BC25-62A2-4336-A02B-C043A28E0396}" destId="{1C91D7E3-8940-4A33-9182-677DD5415901}" srcOrd="0" destOrd="1" presId="urn:microsoft.com/office/officeart/2011/layout/InterconnectedBlockProcess"/>
    <dgm:cxn modelId="{043ECFE0-0CF7-43B0-8F89-55D3D8FEEF39}" type="presOf" srcId="{5E92505A-51E0-4F78-B3C5-704ACF8710DE}" destId="{C4A0B731-360C-4D52-9B2C-0ABDCA14889B}" srcOrd="0" destOrd="0" presId="urn:microsoft.com/office/officeart/2011/layout/InterconnectedBlockProcess"/>
    <dgm:cxn modelId="{8634E8E5-A8AC-4F3C-BD9F-E16BE8103415}" type="presOf" srcId="{65C051F6-A849-4495-A964-CD4C650B9C06}" destId="{52644D60-E835-4F4E-9AAF-4FFC379CE023}" srcOrd="0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D906869B-73FD-4A45-B4B1-48FAA1B4C639}" type="presParOf" srcId="{A6BCDA7B-D633-438F-B44D-CB4D60E5C492}" destId="{54620F06-7443-459A-B5C1-58D212840666}" srcOrd="0" destOrd="0" presId="urn:microsoft.com/office/officeart/2011/layout/InterconnectedBlockProcess"/>
    <dgm:cxn modelId="{A95823AE-A828-41F5-AF01-EBB9E9166985}" type="presParOf" srcId="{54620F06-7443-459A-B5C1-58D212840666}" destId="{5B2A7C35-2C9A-4C3B-9FBD-D6947B22EB71}" srcOrd="0" destOrd="0" presId="urn:microsoft.com/office/officeart/2011/layout/InterconnectedBlockProcess"/>
    <dgm:cxn modelId="{E12E05B6-4C4C-4797-AFFD-4501FF45C277}" type="presParOf" srcId="{A6BCDA7B-D633-438F-B44D-CB4D60E5C492}" destId="{D801E8EE-2A7C-4935-9631-29D091B17162}" srcOrd="1" destOrd="0" presId="urn:microsoft.com/office/officeart/2011/layout/InterconnectedBlockProcess"/>
    <dgm:cxn modelId="{857604B9-4EA7-43BB-A2A5-E380C0B27F42}" type="presParOf" srcId="{A6BCDA7B-D633-438F-B44D-CB4D60E5C492}" destId="{52644D60-E835-4F4E-9AAF-4FFC379CE023}" srcOrd="2" destOrd="0" presId="urn:microsoft.com/office/officeart/2011/layout/InterconnectedBlockProcess"/>
    <dgm:cxn modelId="{D0DBDCCB-75CF-4415-B0D5-AF967A1EC7AA}" type="presParOf" srcId="{A6BCDA7B-D633-438F-B44D-CB4D60E5C492}" destId="{D8DBF041-87E9-4557-BA3E-F55695272A3C}" srcOrd="3" destOrd="0" presId="urn:microsoft.com/office/officeart/2011/layout/InterconnectedBlockProcess"/>
    <dgm:cxn modelId="{131CD013-4438-4873-95AE-B0D55CC0A8F2}" type="presParOf" srcId="{D8DBF041-87E9-4557-BA3E-F55695272A3C}" destId="{87EEB0F6-DD20-4527-BA59-BCAAE1E3CFC5}" srcOrd="0" destOrd="0" presId="urn:microsoft.com/office/officeart/2011/layout/InterconnectedBlockProcess"/>
    <dgm:cxn modelId="{6A3C765E-7D69-4291-AC97-D361CE9D78CF}" type="presParOf" srcId="{A6BCDA7B-D633-438F-B44D-CB4D60E5C492}" destId="{EA55A486-B9D0-4073-9428-1BF8A1D2CA76}" srcOrd="4" destOrd="0" presId="urn:microsoft.com/office/officeart/2011/layout/InterconnectedBlockProcess"/>
    <dgm:cxn modelId="{19A79F89-3D5B-4C6B-A1FD-934DEADEC3BF}" type="presParOf" srcId="{A6BCDA7B-D633-438F-B44D-CB4D60E5C492}" destId="{C4A0B731-360C-4D52-9B2C-0ABDCA14889B}" srcOrd="5" destOrd="0" presId="urn:microsoft.com/office/officeart/2011/layout/InterconnectedBlockProcess"/>
    <dgm:cxn modelId="{8D014AB8-4029-418E-8D69-482895359085}" type="presParOf" srcId="{A6BCDA7B-D633-438F-B44D-CB4D60E5C492}" destId="{0AF26758-04C8-4432-9CF9-027BB944024D}" srcOrd="6" destOrd="0" presId="urn:microsoft.com/office/officeart/2011/layout/InterconnectedBlockProcess"/>
    <dgm:cxn modelId="{40386293-9200-4710-9E0A-27D96C904651}" type="presParOf" srcId="{0AF26758-04C8-4432-9CF9-027BB944024D}" destId="{2532504F-5FE1-4C97-B485-F05E8885EACC}" srcOrd="0" destOrd="0" presId="urn:microsoft.com/office/officeart/2011/layout/InterconnectedBlockProcess"/>
    <dgm:cxn modelId="{B85683D8-7865-4FC8-B5CE-04DD3F99AC58}" type="presParOf" srcId="{A6BCDA7B-D633-438F-B44D-CB4D60E5C492}" destId="{7A6C0604-203C-4073-A41D-1E055D99CA40}" srcOrd="7" destOrd="0" presId="urn:microsoft.com/office/officeart/2011/layout/InterconnectedBlockProcess"/>
    <dgm:cxn modelId="{004D3DDB-1D5A-4500-9356-CBE4DFDD5224}" type="presParOf" srcId="{A6BCDA7B-D633-438F-B44D-CB4D60E5C492}" destId="{D5312D36-6EFC-42D2-B577-7C07C0BCCB43}" srcOrd="8" destOrd="0" presId="urn:microsoft.com/office/officeart/2011/layout/InterconnectedBlockProcess"/>
    <dgm:cxn modelId="{84F6DD0E-4A04-48E8-93B9-642C8CD91770}" type="presParOf" srcId="{A6BCDA7B-D633-438F-B44D-CB4D60E5C492}" destId="{B201F995-8FF8-46FF-9B47-0A39550D2D87}" srcOrd="9" destOrd="0" presId="urn:microsoft.com/office/officeart/2011/layout/InterconnectedBlockProcess"/>
    <dgm:cxn modelId="{A420A9CC-50D3-4696-B82B-1B6C2C1CE6C9}" type="presParOf" srcId="{B201F995-8FF8-46FF-9B47-0A39550D2D87}" destId="{06F8D57B-EDF4-4CF4-8700-DC2CA3E3028E}" srcOrd="0" destOrd="0" presId="urn:microsoft.com/office/officeart/2011/layout/InterconnectedBlockProcess"/>
    <dgm:cxn modelId="{AB0F8222-A291-4BB2-B315-92C10349814F}" type="presParOf" srcId="{A6BCDA7B-D633-438F-B44D-CB4D60E5C492}" destId="{F370722A-5E7A-4072-9E75-3872E8DEC19E}" srcOrd="10" destOrd="0" presId="urn:microsoft.com/office/officeart/2011/layout/InterconnectedBlockProcess"/>
    <dgm:cxn modelId="{9FB7123D-8A7E-480E-9FD2-DB58E33A2720}" type="presParOf" srcId="{A6BCDA7B-D633-438F-B44D-CB4D60E5C492}" destId="{A05B90A8-F95A-4FAC-B632-3897CC5FFCF7}" srcOrd="11" destOrd="0" presId="urn:microsoft.com/office/officeart/2011/layout/InterconnectedBlockProcess"/>
    <dgm:cxn modelId="{538878DD-801B-4384-9323-CD44939834A2}" type="presParOf" srcId="{A6BCDA7B-D633-438F-B44D-CB4D60E5C492}" destId="{7305DF14-0FF5-45E4-8B19-015814092DBD}" srcOrd="12" destOrd="0" presId="urn:microsoft.com/office/officeart/2011/layout/InterconnectedBlockProcess"/>
    <dgm:cxn modelId="{1AAEB75B-7745-4072-A054-7A258B55E67C}" type="presParOf" srcId="{7305DF14-0FF5-45E4-8B19-015814092DBD}" destId="{A134CDD1-D85F-44EF-8BEE-9F99A855C1E6}" srcOrd="0" destOrd="0" presId="urn:microsoft.com/office/officeart/2011/layout/InterconnectedBlockProcess"/>
    <dgm:cxn modelId="{0455E1EA-3170-415C-90F1-10D1CCE33A5E}" type="presParOf" srcId="{A6BCDA7B-D633-438F-B44D-CB4D60E5C492}" destId="{1C91D7E3-8940-4A33-9182-677DD5415901}" srcOrd="13" destOrd="0" presId="urn:microsoft.com/office/officeart/2011/layout/InterconnectedBlockProcess"/>
    <dgm:cxn modelId="{7728C119-5BA2-47C1-AFC4-B96D6086608A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2A7C35-2C9A-4C3B-9FBD-D6947B22EB71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644D60-E835-4F4E-9AAF-4FFC379CE023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325" tIns="60325" rIns="60325" bIns="6032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87EEB0F6-DD20-4527-BA59-BCAAE1E3CFC5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A0B731-360C-4D52-9B2C-0ABDCA14889B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325" tIns="60325" rIns="60325" bIns="6032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marL="0" lvl="0" indent="0" algn="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Testing and debugging</a:t>
          </a:r>
          <a:r>
            <a:rPr lang="en-US" sz="1300" kern="1200" dirty="0"/>
            <a:t> of application modules</a:t>
          </a:r>
          <a:endParaRPr lang="en-US" sz="1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82502" y="811639"/>
        <a:ext cx="1116055" cy="2840736"/>
      </dsp:txXfrm>
    </dsp:sp>
    <dsp:sp modelId="{D5312D36-6EFC-42D2-B577-7C07C0BCCB43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325" tIns="60325" rIns="60325" bIns="6032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marL="0" lvl="0" indent="0" algn="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Development of frontend mobile screens using Flutter</a:t>
          </a:r>
          <a:endParaRPr lang="en-US" sz="1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Integration of booking flow and basic APIs</a:t>
          </a:r>
          <a:endParaRPr lang="en-US" sz="1300" kern="1200" dirty="0">
            <a:latin typeface="Calibri Light"/>
            <a:ea typeface="Calibri Light"/>
            <a:cs typeface="Calibri Light"/>
          </a:endParaRPr>
        </a:p>
      </dsp:txBody>
      <dsp:txXfrm>
        <a:off x="3504181" y="811639"/>
        <a:ext cx="1116055" cy="2637826"/>
      </dsp:txXfrm>
    </dsp:sp>
    <dsp:sp modelId="{A05B90A8-F95A-4FAC-B632-3897CC5FFCF7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325" tIns="60325" rIns="60325" bIns="6032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marL="0" lvl="0" indent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Analysis and research on Drive Genie application concept</a:t>
          </a:r>
          <a:endParaRPr lang="en-US" sz="1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Understanding service workflow, user roles, and system requirements</a:t>
          </a:r>
          <a:endParaRPr lang="en-US" sz="1300" kern="1200" dirty="0">
            <a:latin typeface="Calibri Light"/>
            <a:ea typeface="Calibri Light"/>
            <a:cs typeface="Calibri Light"/>
          </a:endParaRP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325" tIns="60325" rIns="60325" bIns="60325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/>
              <a:cs typeface="Times New Roman"/>
            </a:rPr>
            <a:t>Review 1</a:t>
          </a:r>
          <a:endParaRPr lang="en-US" sz="1900" kern="1200" dirty="0"/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07/03/2026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07-03-2026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07-03-2026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07-03-2026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07-03-2026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07-03-2026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07-03-2026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07-03-2026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07-03-2026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07-03-2026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07-03-2026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07-03-2026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07-03-2026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Dr./Mr./Ms./Prof.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CSE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Dr. Asif Mohammed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Dr Balakrishnan, Dr Shakthi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Review-3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TITLE OF THE INTERNSHIP / WORK ASSIGNED / DOMAIN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984440"/>
              </p:ext>
            </p:extLst>
          </p:nvPr>
        </p:nvGraphicFramePr>
        <p:xfrm>
          <a:off x="601909" y="1911874"/>
          <a:ext cx="5064723" cy="15171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509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759633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79281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79281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KIRAN K 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79281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20231CSE3081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79281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377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0674"/>
            <a:ext cx="10515600" cy="4038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err="1">
                <a:latin typeface="Times New Roman"/>
                <a:ea typeface="+mn-lt"/>
                <a:cs typeface="Times New Roman"/>
              </a:rPr>
              <a:t>Techspiration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India Private Limited is a technology-driven IT services and solutions company</a:t>
            </a:r>
            <a:endParaRPr lang="en-US" sz="2000" dirty="0">
              <a:latin typeface="Times New Roman"/>
              <a:cs typeface="Times New Roman"/>
            </a:endParaRPr>
          </a:p>
          <a:p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ea typeface="+mn-lt"/>
                <a:cs typeface="Times New Roman"/>
              </a:rPr>
              <a:t>Focuses on software development, digital transformation, and emerging technologies</a:t>
            </a:r>
            <a:endParaRPr lang="en-US" sz="2000" dirty="0">
              <a:latin typeface="Times New Roman"/>
              <a:cs typeface="Times New Roman"/>
            </a:endParaRPr>
          </a:p>
          <a:p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ea typeface="+mn-lt"/>
                <a:cs typeface="Times New Roman"/>
              </a:rPr>
              <a:t>Aims to bridge the gap between theoretical knowledge and real-world industry experience</a:t>
            </a:r>
            <a:endParaRPr lang="en-US" sz="2000" dirty="0">
              <a:latin typeface="Times New Roman"/>
              <a:cs typeface="Times New Roman"/>
            </a:endParaRPr>
          </a:p>
          <a:p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ea typeface="+mn-lt"/>
                <a:cs typeface="Times New Roman"/>
              </a:rPr>
              <a:t>Provides internships, hands-on projects, and practical exposure for students and fresh graduates</a:t>
            </a:r>
            <a:endParaRPr lang="en-US" sz="2000" dirty="0">
              <a:latin typeface="Times New Roman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93438"/>
            <a:ext cx="10515600" cy="45843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sz="2000" dirty="0">
                <a:latin typeface="Times New Roman"/>
                <a:ea typeface="+mn-lt"/>
                <a:cs typeface="Times New Roman"/>
              </a:rPr>
              <a:t>Working Domain: Full-Stack Web &amp; Mobile Application Development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IN" sz="2000" dirty="0">
                <a:latin typeface="Times New Roman"/>
                <a:ea typeface="+mn-lt"/>
                <a:cs typeface="Times New Roman"/>
              </a:rPr>
              <a:t>During my internship at </a:t>
            </a:r>
            <a:r>
              <a:rPr lang="en-IN" sz="2000" dirty="0" err="1">
                <a:latin typeface="Times New Roman"/>
                <a:ea typeface="+mn-lt"/>
                <a:cs typeface="Times New Roman"/>
              </a:rPr>
              <a:t>Techspiration</a:t>
            </a:r>
            <a:r>
              <a:rPr lang="en-IN" sz="2000" dirty="0">
                <a:latin typeface="Times New Roman"/>
                <a:ea typeface="+mn-lt"/>
                <a:cs typeface="Times New Roman"/>
              </a:rPr>
              <a:t> India Private Limited, I worked mainly in the MERN Stack technology, which is widely used for building modern, scalable, and high-performance web applications.</a:t>
            </a:r>
            <a:endParaRPr lang="en-IN" sz="2000">
              <a:latin typeface="Times New Roman"/>
              <a:cs typeface="Times New Roman"/>
            </a:endParaRPr>
          </a:p>
          <a:p>
            <a:r>
              <a:rPr lang="en-IN" sz="2000" dirty="0">
                <a:latin typeface="Times New Roman"/>
                <a:ea typeface="+mn-lt"/>
                <a:cs typeface="Times New Roman"/>
              </a:rPr>
              <a:t>The MERN Stack is a popular open-source JavaScript-based technology stack used to develop full-stack applications. It consists of the following core technologies:</a:t>
            </a:r>
            <a:endParaRPr lang="en-IN" sz="2000">
              <a:latin typeface="Times New Roman"/>
              <a:cs typeface="Times New Roman"/>
            </a:endParaRPr>
          </a:p>
          <a:p>
            <a:r>
              <a:rPr lang="en-IN" sz="2000" dirty="0">
                <a:ea typeface="+mn-lt"/>
                <a:cs typeface="+mn-lt"/>
              </a:rPr>
              <a:t>MongoDB – A NoSQL database used to store application data</a:t>
            </a:r>
            <a:endParaRPr lang="en-IN" sz="2000">
              <a:ea typeface="Calibri"/>
              <a:cs typeface="Calibri"/>
            </a:endParaRPr>
          </a:p>
          <a:p>
            <a:r>
              <a:rPr lang="en-IN" sz="2000" dirty="0">
                <a:ea typeface="+mn-lt"/>
                <a:cs typeface="+mn-lt"/>
              </a:rPr>
              <a:t>Express.js – A backend framework for building RESTful APIs</a:t>
            </a:r>
            <a:endParaRPr lang="en-IN" sz="2000">
              <a:ea typeface="Calibri"/>
              <a:cs typeface="Calibri"/>
            </a:endParaRPr>
          </a:p>
          <a:p>
            <a:r>
              <a:rPr lang="en-IN" sz="2000" dirty="0">
                <a:ea typeface="+mn-lt"/>
                <a:cs typeface="+mn-lt"/>
              </a:rPr>
              <a:t>React.js – A frontend library used to build dynamic user interfaces</a:t>
            </a:r>
            <a:endParaRPr lang="en-IN" sz="2000">
              <a:ea typeface="Calibri"/>
              <a:cs typeface="Calibri"/>
            </a:endParaRPr>
          </a:p>
          <a:p>
            <a:r>
              <a:rPr lang="en-IN" sz="2000" dirty="0">
                <a:ea typeface="+mn-lt"/>
                <a:cs typeface="+mn-lt"/>
              </a:rPr>
              <a:t>Node.js – A runtime environment for executing JavaScript on the server</a:t>
            </a:r>
            <a:endParaRPr lang="en-IN" sz="2000">
              <a:ea typeface="Calibri"/>
              <a:cs typeface="Calibri"/>
            </a:endParaRPr>
          </a:p>
          <a:p>
            <a:r>
              <a:rPr lang="en-IN" sz="2000" dirty="0">
                <a:ea typeface="+mn-lt"/>
                <a:cs typeface="+mn-lt"/>
              </a:rPr>
              <a:t>Using a single programming language (JavaScript) across both frontend and backend simplifies development, improves efficiency, and enables faster creation of single-page and real-time applications.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/>
                <a:cs typeface="Times New Roman"/>
              </a:rPr>
              <a:t>Team</a:t>
            </a:r>
            <a:endParaRPr lang="en-US" sz="2000" b="1" dirty="0">
              <a:latin typeface="Times New Roman"/>
              <a:ea typeface="Calibri" panose="020F0502020204030204"/>
              <a:cs typeface="Times New Roman"/>
            </a:endParaRPr>
          </a:p>
          <a:p>
            <a:r>
              <a:rPr lang="en-IN" sz="2000" dirty="0">
                <a:latin typeface="Times New Roman"/>
                <a:ea typeface="+mn-lt"/>
                <a:cs typeface="Times New Roman"/>
              </a:rPr>
              <a:t>Worked as part of a </a:t>
            </a:r>
            <a:r>
              <a:rPr lang="en-IN" sz="2000" b="1" dirty="0">
                <a:latin typeface="Times New Roman"/>
                <a:ea typeface="+mn-lt"/>
                <a:cs typeface="Times New Roman"/>
              </a:rPr>
              <a:t>software development team</a:t>
            </a:r>
            <a:r>
              <a:rPr lang="en-IN" sz="2000" dirty="0">
                <a:latin typeface="Times New Roman"/>
                <a:ea typeface="+mn-lt"/>
                <a:cs typeface="Times New Roman"/>
              </a:rPr>
              <a:t> consisting of </a:t>
            </a:r>
            <a:r>
              <a:rPr lang="en-IN" sz="2000" b="1" dirty="0">
                <a:latin typeface="Times New Roman"/>
                <a:ea typeface="+mn-lt"/>
                <a:cs typeface="Times New Roman"/>
              </a:rPr>
              <a:t>frontend developers, backend developers, and testers</a:t>
            </a:r>
            <a:r>
              <a:rPr lang="en-IN" sz="2000" dirty="0">
                <a:latin typeface="Times New Roman"/>
                <a:ea typeface="+mn-lt"/>
                <a:cs typeface="Times New Roman"/>
              </a:rPr>
              <a:t>.</a:t>
            </a:r>
            <a:endParaRPr lang="en-IN" sz="2000" dirty="0">
              <a:latin typeface="Times New Roman"/>
              <a:ea typeface="Calibri"/>
              <a:cs typeface="Times New Roman"/>
            </a:endParaRPr>
          </a:p>
          <a:p>
            <a:r>
              <a:rPr lang="en-IN" sz="2000" dirty="0">
                <a:latin typeface="Times New Roman"/>
                <a:ea typeface="+mn-lt"/>
                <a:cs typeface="Times New Roman"/>
              </a:rPr>
              <a:t>The team collaborated to </a:t>
            </a:r>
            <a:r>
              <a:rPr lang="en-IN" sz="2000" b="1" dirty="0">
                <a:latin typeface="Times New Roman"/>
                <a:ea typeface="+mn-lt"/>
                <a:cs typeface="Times New Roman"/>
              </a:rPr>
              <a:t>design, develop, and test the application</a:t>
            </a:r>
            <a:r>
              <a:rPr lang="en-IN" sz="2000" dirty="0">
                <a:latin typeface="Times New Roman"/>
                <a:ea typeface="+mn-lt"/>
                <a:cs typeface="Times New Roman"/>
              </a:rPr>
              <a:t>.</a:t>
            </a:r>
            <a:endParaRPr lang="en-IN" sz="2000" dirty="0">
              <a:latin typeface="Times New Roman"/>
              <a:ea typeface="Calibri"/>
              <a:cs typeface="Times New Roman"/>
            </a:endParaRPr>
          </a:p>
          <a:p>
            <a:r>
              <a:rPr lang="en-IN" sz="2000" dirty="0">
                <a:latin typeface="Times New Roman"/>
                <a:ea typeface="+mn-lt"/>
                <a:cs typeface="Times New Roman"/>
              </a:rPr>
              <a:t>Regular discussions and knowledge sharing helped improve development efficiency.</a:t>
            </a:r>
            <a:endParaRPr lang="en-IN" sz="2000" dirty="0">
              <a:latin typeface="Times New Roman"/>
              <a:ea typeface="Calibri"/>
              <a:cs typeface="Times New Roman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/>
                <a:cs typeface="Times New Roman"/>
              </a:rPr>
              <a:t>Reporting Manager</a:t>
            </a:r>
            <a:endParaRPr lang="en-IN" sz="2000" b="1" dirty="0">
              <a:latin typeface="Times New Roman"/>
              <a:ea typeface="Calibri"/>
              <a:cs typeface="Times New Roman"/>
            </a:endParaRPr>
          </a:p>
          <a:p>
            <a:r>
              <a:rPr lang="en-IN" sz="2000" dirty="0">
                <a:latin typeface="Times New Roman"/>
                <a:ea typeface="+mn-lt"/>
                <a:cs typeface="Times New Roman"/>
              </a:rPr>
              <a:t>Reported to the </a:t>
            </a:r>
            <a:r>
              <a:rPr lang="en-IN" sz="2000" b="1" dirty="0">
                <a:latin typeface="Times New Roman"/>
                <a:ea typeface="+mn-lt"/>
                <a:cs typeface="Times New Roman"/>
              </a:rPr>
              <a:t>Project Manager / Team Lead</a:t>
            </a:r>
            <a:r>
              <a:rPr lang="en-IN" sz="2000" dirty="0">
                <a:latin typeface="Times New Roman"/>
                <a:ea typeface="+mn-lt"/>
                <a:cs typeface="Times New Roman"/>
              </a:rPr>
              <a:t>.</a:t>
            </a:r>
            <a:endParaRPr lang="en-IN" sz="2000" dirty="0">
              <a:latin typeface="Times New Roman"/>
              <a:ea typeface="Calibri"/>
              <a:cs typeface="Times New Roman"/>
            </a:endParaRPr>
          </a:p>
          <a:p>
            <a:r>
              <a:rPr lang="en-IN" sz="2000" dirty="0">
                <a:latin typeface="Times New Roman"/>
                <a:ea typeface="+mn-lt"/>
                <a:cs typeface="Times New Roman"/>
              </a:rPr>
              <a:t>The manager assigned tasks, monitored progress, and provided technical guidance.</a:t>
            </a:r>
            <a:endParaRPr lang="en-IN" sz="2000" dirty="0">
              <a:latin typeface="Times New Roman"/>
              <a:ea typeface="Calibri"/>
              <a:cs typeface="Times New Roman"/>
            </a:endParaRPr>
          </a:p>
          <a:p>
            <a:r>
              <a:rPr lang="en-IN" sz="2000" dirty="0">
                <a:latin typeface="Times New Roman"/>
                <a:ea typeface="+mn-lt"/>
                <a:cs typeface="Times New Roman"/>
              </a:rPr>
              <a:t>Conducted </a:t>
            </a:r>
            <a:r>
              <a:rPr lang="en-IN" sz="2000" b="1" dirty="0">
                <a:latin typeface="Times New Roman"/>
                <a:ea typeface="+mn-lt"/>
                <a:cs typeface="Times New Roman"/>
              </a:rPr>
              <a:t>regular meetings and code reviews</a:t>
            </a:r>
            <a:r>
              <a:rPr lang="en-IN" sz="2000" dirty="0">
                <a:latin typeface="Times New Roman"/>
                <a:ea typeface="+mn-lt"/>
                <a:cs typeface="Times New Roman"/>
              </a:rPr>
              <a:t> to ensure project quality and timely completion.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93438"/>
            <a:ext cx="9445172" cy="306940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sz="2000" b="1">
                <a:latin typeface="Times New Roman"/>
                <a:ea typeface="+mn-lt"/>
                <a:cs typeface="Times New Roman"/>
              </a:rPr>
              <a:t>Understanding the existing codebase</a:t>
            </a:r>
            <a:r>
              <a:rPr lang="en-IN" sz="2000">
                <a:latin typeface="Times New Roman"/>
                <a:ea typeface="+mn-lt"/>
                <a:cs typeface="Times New Roman"/>
              </a:rPr>
              <a:t> and project structure at the beginning.</a:t>
            </a:r>
            <a:endParaRPr lang="en-US" sz="2000">
              <a:latin typeface="Times New Roman"/>
              <a:ea typeface="Calibri"/>
              <a:cs typeface="Times New Roman"/>
            </a:endParaRPr>
          </a:p>
          <a:p>
            <a:r>
              <a:rPr lang="en-IN" sz="2000" b="1">
                <a:latin typeface="Times New Roman"/>
                <a:ea typeface="+mn-lt"/>
                <a:cs typeface="Times New Roman"/>
              </a:rPr>
              <a:t>Learning new technologies and tools</a:t>
            </a:r>
            <a:r>
              <a:rPr lang="en-IN" sz="2000">
                <a:latin typeface="Times New Roman"/>
                <a:ea typeface="+mn-lt"/>
                <a:cs typeface="Times New Roman"/>
              </a:rPr>
              <a:t> used in the project within a short time.</a:t>
            </a:r>
            <a:endParaRPr lang="en-IN" sz="2000">
              <a:latin typeface="Times New Roman"/>
              <a:ea typeface="Calibri"/>
              <a:cs typeface="Times New Roman"/>
            </a:endParaRPr>
          </a:p>
          <a:p>
            <a:r>
              <a:rPr lang="en-IN" sz="2000" b="1">
                <a:latin typeface="Times New Roman"/>
                <a:ea typeface="+mn-lt"/>
                <a:cs typeface="Times New Roman"/>
              </a:rPr>
              <a:t>Debugging errors and fixing bugs</a:t>
            </a:r>
            <a:r>
              <a:rPr lang="en-IN" sz="2000">
                <a:latin typeface="Times New Roman"/>
                <a:ea typeface="+mn-lt"/>
                <a:cs typeface="Times New Roman"/>
              </a:rPr>
              <a:t> during development.</a:t>
            </a:r>
          </a:p>
          <a:p>
            <a:r>
              <a:rPr lang="en-IN" sz="2000" b="1">
                <a:latin typeface="Times New Roman"/>
                <a:ea typeface="+mn-lt"/>
                <a:cs typeface="Times New Roman"/>
              </a:rPr>
              <a:t>Managing time</a:t>
            </a:r>
            <a:r>
              <a:rPr lang="en-IN" sz="2000">
                <a:latin typeface="Times New Roman"/>
                <a:ea typeface="+mn-lt"/>
                <a:cs typeface="Times New Roman"/>
              </a:rPr>
              <a:t> while completing assigned tasks and meeting deadlines.</a:t>
            </a:r>
            <a:endParaRPr lang="en-IN"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sz="2000" dirty="0">
                <a:latin typeface="Times New Roman"/>
                <a:ea typeface="+mn-lt"/>
                <a:cs typeface="Times New Roman"/>
              </a:rPr>
              <a:t>The Drive Genie application is designed to connect customers with professional drivers in a quick, </a:t>
            </a:r>
            <a:r>
              <a:rPr lang="en-IN" sz="2000">
                <a:latin typeface="Times New Roman"/>
                <a:ea typeface="+mn-lt"/>
                <a:cs typeface="Times New Roman"/>
              </a:rPr>
              <a:t>reliable, and user-friendly manner.</a:t>
            </a:r>
            <a:endParaRPr lang="en-US" sz="2000">
              <a:latin typeface="Times New Roman"/>
              <a:ea typeface="Calibri"/>
              <a:cs typeface="Times New Roman"/>
            </a:endParaRPr>
          </a:p>
          <a:p>
            <a:r>
              <a:rPr lang="en-IN" sz="2000" dirty="0">
                <a:latin typeface="Times New Roman"/>
                <a:ea typeface="+mn-lt"/>
                <a:cs typeface="Times New Roman"/>
              </a:rPr>
              <a:t>The main objective is to simplify driver hiring, improve trip management, and provide real-time </a:t>
            </a:r>
            <a:r>
              <a:rPr lang="en-IN" sz="2000">
                <a:latin typeface="Times New Roman"/>
                <a:ea typeface="+mn-lt"/>
                <a:cs typeface="Times New Roman"/>
              </a:rPr>
              <a:t>booking and tracking through a mobile application.</a:t>
            </a:r>
            <a:endParaRPr lang="en-IN" sz="2000">
              <a:latin typeface="Times New Roman"/>
              <a:ea typeface="Calibri" panose="020F0502020204030204"/>
              <a:cs typeface="Times New Roman"/>
            </a:endParaRPr>
          </a:p>
          <a:p>
            <a:r>
              <a:rPr lang="en-IN" sz="2000" dirty="0">
                <a:latin typeface="Times New Roman"/>
                <a:ea typeface="+mn-lt"/>
                <a:cs typeface="Times New Roman"/>
              </a:rPr>
              <a:t>It helps users save time, ensures transparent pricing, and improves service efficiency using modern technologies.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IN" sz="2000" dirty="0">
                <a:latin typeface="Times New Roman"/>
                <a:ea typeface="+mn-lt"/>
                <a:cs typeface="Times New Roman"/>
              </a:rPr>
              <a:t>Recent studies in on-demand service platforms highlight the importance of real-time location </a:t>
            </a:r>
            <a:r>
              <a:rPr lang="en-IN" sz="2000">
                <a:latin typeface="Times New Roman"/>
                <a:ea typeface="+mn-lt"/>
                <a:cs typeface="Times New Roman"/>
              </a:rPr>
              <a:t>tracking, mobile accessibility, and secure backend systems.</a:t>
            </a:r>
            <a:endParaRPr lang="en-IN" sz="2000">
              <a:latin typeface="Times New Roman"/>
              <a:cs typeface="Times New Roman"/>
            </a:endParaRPr>
          </a:p>
          <a:p>
            <a:r>
              <a:rPr lang="en-IN" sz="2000" dirty="0">
                <a:latin typeface="Times New Roman"/>
                <a:ea typeface="+mn-lt"/>
                <a:cs typeface="Times New Roman"/>
              </a:rPr>
              <a:t>Research emphasizes the use of GPS, Google Maps API, and real-time databases to improve user </a:t>
            </a:r>
            <a:r>
              <a:rPr lang="en-IN" sz="2000">
                <a:latin typeface="Times New Roman"/>
                <a:ea typeface="+mn-lt"/>
                <a:cs typeface="Times New Roman"/>
              </a:rPr>
              <a:t>experience and operational efficiency in ride-based services.</a:t>
            </a:r>
            <a:endParaRPr lang="en-IN" sz="2000">
              <a:latin typeface="Times New Roman"/>
              <a:ea typeface="Calibri"/>
              <a:cs typeface="Times New Roman"/>
            </a:endParaRPr>
          </a:p>
          <a:p>
            <a:r>
              <a:rPr lang="en-IN" sz="2000" dirty="0">
                <a:latin typeface="Times New Roman"/>
                <a:ea typeface="+mn-lt"/>
                <a:cs typeface="Times New Roman"/>
              </a:rPr>
              <a:t>However, challenges such as driver availability, booking delays, and poor tracking accuracy are </a:t>
            </a:r>
            <a:r>
              <a:rPr lang="en-IN" sz="2000">
                <a:latin typeface="Times New Roman"/>
                <a:ea typeface="+mn-lt"/>
                <a:cs typeface="Times New Roman"/>
              </a:rPr>
              <a:t>common.</a:t>
            </a:r>
            <a:endParaRPr lang="en-IN" sz="2000" dirty="0">
              <a:latin typeface="Times New Roman"/>
              <a:ea typeface="Calibri"/>
              <a:cs typeface="Times New Roman"/>
            </a:endParaRPr>
          </a:p>
          <a:p>
            <a:r>
              <a:rPr lang="en-IN" sz="2000" dirty="0">
                <a:latin typeface="Times New Roman"/>
                <a:ea typeface="+mn-lt"/>
                <a:cs typeface="Times New Roman"/>
              </a:rPr>
              <a:t>Hence, modern applications adopt a hybrid architecture combining mobile apps, cloud services, and real-time communication to deliver reliable and scalable solutions.</a:t>
            </a:r>
            <a:endParaRPr lang="en-IN" sz="2000" dirty="0">
              <a:latin typeface="Times New Roman"/>
              <a:cs typeface="Times New Roman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sz="2000">
                <a:latin typeface="Times New Roman"/>
                <a:ea typeface="+mn-lt"/>
                <a:cs typeface="Times New Roman"/>
              </a:rPr>
              <a:t>Customer Mobile Application – Booking drivers and tracking trips</a:t>
            </a:r>
            <a:endParaRPr lang="en-IN" sz="2000">
              <a:latin typeface="Times New Roman"/>
              <a:cs typeface="Times New Roman"/>
            </a:endParaRPr>
          </a:p>
          <a:p>
            <a:r>
              <a:rPr lang="en-IN" sz="2000">
                <a:latin typeface="Times New Roman"/>
                <a:ea typeface="+mn-lt"/>
                <a:cs typeface="Times New Roman"/>
              </a:rPr>
              <a:t>Partner (Driver) Application – Accepting bookings and updating live location</a:t>
            </a:r>
            <a:endParaRPr lang="en-IN" sz="2000">
              <a:latin typeface="Times New Roman"/>
              <a:ea typeface="Calibri"/>
              <a:cs typeface="Times New Roman"/>
            </a:endParaRPr>
          </a:p>
          <a:p>
            <a:r>
              <a:rPr lang="en-IN" sz="2000">
                <a:latin typeface="Times New Roman"/>
                <a:ea typeface="+mn-lt"/>
                <a:cs typeface="Times New Roman"/>
              </a:rPr>
              <a:t>Admin &amp; Backend Services – Managing users, bookings, and notifications</a:t>
            </a:r>
            <a:endParaRPr lang="en-IN" sz="2000">
              <a:latin typeface="Times New Roman"/>
              <a:ea typeface="Calibri"/>
              <a:cs typeface="Times New Roman"/>
            </a:endParaRPr>
          </a:p>
          <a:p>
            <a:r>
              <a:rPr lang="en-IN" sz="2000">
                <a:latin typeface="Times New Roman"/>
                <a:ea typeface="+mn-lt"/>
                <a:cs typeface="Times New Roman"/>
              </a:rPr>
              <a:t>Real-Time Location Tracking &amp; Trip Management System</a:t>
            </a:r>
            <a:endParaRPr lang="en-IN" sz="2000">
              <a:latin typeface="Times New Roman"/>
              <a:cs typeface="Times New Roman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sz="2000" dirty="0">
                <a:latin typeface="Times New Roman"/>
                <a:ea typeface="+mn-lt"/>
                <a:cs typeface="Times New Roman"/>
              </a:rPr>
              <a:t>Customers face difficulties in finding reliable drivers on demand with proper tracking and </a:t>
            </a:r>
            <a:r>
              <a:rPr lang="en-IN" sz="2000">
                <a:latin typeface="Times New Roman"/>
                <a:ea typeface="+mn-lt"/>
                <a:cs typeface="Times New Roman"/>
              </a:rPr>
              <a:t>transparency.</a:t>
            </a:r>
            <a:endParaRPr lang="en-IN" sz="2000">
              <a:latin typeface="Times New Roman"/>
              <a:cs typeface="Times New Roman"/>
            </a:endParaRPr>
          </a:p>
          <a:p>
            <a:r>
              <a:rPr lang="en-IN" sz="2000">
                <a:latin typeface="Times New Roman"/>
                <a:ea typeface="+mn-lt"/>
                <a:cs typeface="Times New Roman"/>
              </a:rPr>
              <a:t>Drivers lack a centralized platform to receive bookings and manage trips efficiently.</a:t>
            </a:r>
            <a:endParaRPr lang="en-IN" sz="2000">
              <a:latin typeface="Times New Roman"/>
              <a:ea typeface="Calibri"/>
              <a:cs typeface="Times New Roman"/>
            </a:endParaRPr>
          </a:p>
          <a:p>
            <a:r>
              <a:rPr lang="en-IN" sz="2000" dirty="0">
                <a:latin typeface="Times New Roman"/>
                <a:ea typeface="+mn-lt"/>
                <a:cs typeface="Times New Roman"/>
              </a:rPr>
              <a:t>Traditional methods do not provide real-time updates, automated booking flow, or secure digital records, leading to poor user experience.</a:t>
            </a:r>
            <a:endParaRPr lang="en-IN" sz="2000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415" y="1193438"/>
            <a:ext cx="6070601" cy="4475479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/>
                <a:cs typeface="Times New Roman"/>
              </a:rPr>
              <a:t>Hardware Requirements</a:t>
            </a:r>
            <a:endParaRPr lang="en-IN" b="1">
              <a:latin typeface="Times New Roman"/>
              <a:cs typeface="Times New Roman"/>
            </a:endParaRPr>
          </a:p>
          <a:p>
            <a:r>
              <a:rPr lang="en-IN" dirty="0">
                <a:latin typeface="Times New Roman"/>
                <a:ea typeface="+mn-lt"/>
                <a:cs typeface="Times New Roman"/>
              </a:rPr>
              <a:t>Android Smartphone (for Customer &amp; Driver apps)</a:t>
            </a:r>
            <a:endParaRPr lang="en-IN">
              <a:latin typeface="Times New Roman"/>
              <a:cs typeface="Times New Roman"/>
            </a:endParaRPr>
          </a:p>
          <a:p>
            <a:r>
              <a:rPr lang="en-IN">
                <a:latin typeface="Times New Roman"/>
                <a:ea typeface="+mn-lt"/>
                <a:cs typeface="Times New Roman"/>
              </a:rPr>
              <a:t>Minimum </a:t>
            </a:r>
            <a:r>
              <a:rPr lang="en-IN" b="1">
                <a:latin typeface="Times New Roman"/>
                <a:ea typeface="+mn-lt"/>
                <a:cs typeface="Times New Roman"/>
              </a:rPr>
              <a:t>3 GB RAM</a:t>
            </a:r>
            <a:r>
              <a:rPr lang="en-IN">
                <a:latin typeface="Times New Roman"/>
                <a:ea typeface="+mn-lt"/>
                <a:cs typeface="Times New Roman"/>
              </a:rPr>
              <a:t> mobile device</a:t>
            </a:r>
            <a:endParaRPr lang="en-IN">
              <a:latin typeface="Times New Roman"/>
              <a:cs typeface="Times New Roman"/>
            </a:endParaRPr>
          </a:p>
          <a:p>
            <a:r>
              <a:rPr lang="en-IN">
                <a:latin typeface="Times New Roman"/>
                <a:ea typeface="+mn-lt"/>
                <a:cs typeface="Times New Roman"/>
              </a:rPr>
              <a:t>GPS enabled smartphone</a:t>
            </a:r>
            <a:endParaRPr lang="en-IN">
              <a:latin typeface="Times New Roman"/>
              <a:cs typeface="Times New Roman"/>
            </a:endParaRPr>
          </a:p>
          <a:p>
            <a:r>
              <a:rPr lang="en-IN" dirty="0">
                <a:latin typeface="Times New Roman"/>
                <a:ea typeface="+mn-lt"/>
                <a:cs typeface="Times New Roman"/>
              </a:rPr>
              <a:t>Computer/Laptop for Admin Dashboard</a:t>
            </a:r>
            <a:endParaRPr lang="en-IN">
              <a:latin typeface="Times New Roman"/>
              <a:cs typeface="Times New Roman"/>
            </a:endParaRPr>
          </a:p>
          <a:p>
            <a:r>
              <a:rPr lang="en-IN" dirty="0">
                <a:latin typeface="Times New Roman"/>
                <a:ea typeface="+mn-lt"/>
                <a:cs typeface="Times New Roman"/>
              </a:rPr>
              <a:t>Minimum </a:t>
            </a:r>
            <a:r>
              <a:rPr lang="en-IN" b="1" dirty="0">
                <a:latin typeface="Times New Roman"/>
                <a:ea typeface="+mn-lt"/>
                <a:cs typeface="Times New Roman"/>
              </a:rPr>
              <a:t>8 GB RAM</a:t>
            </a:r>
            <a:r>
              <a:rPr lang="en-IN" dirty="0">
                <a:latin typeface="Times New Roman"/>
                <a:ea typeface="+mn-lt"/>
                <a:cs typeface="Times New Roman"/>
              </a:rPr>
              <a:t> system recommended</a:t>
            </a:r>
            <a:endParaRPr lang="en-IN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IN" b="1">
                <a:latin typeface="Times New Roman"/>
                <a:cs typeface="Times New Roman"/>
              </a:rPr>
              <a:t>Software Requirements</a:t>
            </a:r>
            <a:endParaRPr lang="en-IN" dirty="0">
              <a:latin typeface="Times New Roman"/>
              <a:ea typeface="Calibri" panose="020F0502020204030204"/>
              <a:cs typeface="Times New Roman"/>
            </a:endParaRPr>
          </a:p>
          <a:p>
            <a:r>
              <a:rPr lang="en-IN" b="1" dirty="0">
                <a:latin typeface="Times New Roman"/>
                <a:ea typeface="+mn-lt"/>
                <a:cs typeface="Times New Roman"/>
              </a:rPr>
              <a:t>Frontend (Mobile App):</a:t>
            </a:r>
            <a:r>
              <a:rPr lang="en-IN" dirty="0">
                <a:latin typeface="Times New Roman"/>
                <a:ea typeface="+mn-lt"/>
                <a:cs typeface="Times New Roman"/>
              </a:rPr>
              <a:t> Flutter, Dart</a:t>
            </a:r>
            <a:endParaRPr lang="en-IN">
              <a:latin typeface="Times New Roman"/>
              <a:cs typeface="Times New Roman"/>
            </a:endParaRPr>
          </a:p>
          <a:p>
            <a:r>
              <a:rPr lang="en-IN" b="1" dirty="0">
                <a:latin typeface="Times New Roman"/>
                <a:ea typeface="+mn-lt"/>
                <a:cs typeface="Times New Roman"/>
              </a:rPr>
              <a:t>Web Dashboard:</a:t>
            </a:r>
            <a:r>
              <a:rPr lang="en-IN" dirty="0">
                <a:latin typeface="Times New Roman"/>
                <a:ea typeface="+mn-lt"/>
                <a:cs typeface="Times New Roman"/>
              </a:rPr>
              <a:t> React.js / React Vite</a:t>
            </a:r>
            <a:endParaRPr lang="en-IN">
              <a:latin typeface="Times New Roman"/>
              <a:cs typeface="Times New Roman"/>
            </a:endParaRPr>
          </a:p>
          <a:p>
            <a:r>
              <a:rPr lang="en-IN" b="1" dirty="0">
                <a:latin typeface="Times New Roman"/>
                <a:ea typeface="+mn-lt"/>
                <a:cs typeface="Times New Roman"/>
              </a:rPr>
              <a:t>Backend:</a:t>
            </a:r>
            <a:r>
              <a:rPr lang="en-IN" dirty="0">
                <a:latin typeface="Times New Roman"/>
                <a:ea typeface="+mn-lt"/>
                <a:cs typeface="Times New Roman"/>
              </a:rPr>
              <a:t> Node.js with Express.js</a:t>
            </a:r>
            <a:endParaRPr lang="en-IN">
              <a:latin typeface="Times New Roman"/>
              <a:cs typeface="Times New Roman"/>
            </a:endParaRPr>
          </a:p>
          <a:p>
            <a:r>
              <a:rPr lang="en-IN" b="1" dirty="0">
                <a:latin typeface="Times New Roman"/>
                <a:ea typeface="+mn-lt"/>
                <a:cs typeface="Times New Roman"/>
              </a:rPr>
              <a:t>Database:</a:t>
            </a:r>
            <a:r>
              <a:rPr lang="en-IN" dirty="0">
                <a:latin typeface="Times New Roman"/>
                <a:ea typeface="+mn-lt"/>
                <a:cs typeface="Times New Roman"/>
              </a:rPr>
              <a:t> PostgreSQL</a:t>
            </a:r>
            <a:endParaRPr lang="en-IN">
              <a:latin typeface="Times New Roman"/>
              <a:cs typeface="Times New Roman"/>
            </a:endParaRPr>
          </a:p>
          <a:p>
            <a:r>
              <a:rPr lang="en-IN" b="1" dirty="0">
                <a:latin typeface="Times New Roman"/>
                <a:ea typeface="+mn-lt"/>
                <a:cs typeface="Times New Roman"/>
              </a:rPr>
              <a:t>API Communication:</a:t>
            </a:r>
            <a:r>
              <a:rPr lang="en-IN">
                <a:latin typeface="Times New Roman"/>
                <a:ea typeface="+mn-lt"/>
                <a:cs typeface="Times New Roman"/>
              </a:rPr>
              <a:t> REST APIs</a:t>
            </a:r>
            <a:endParaRPr lang="en-IN">
              <a:latin typeface="Times New Roman"/>
              <a:cs typeface="Times New Roman"/>
            </a:endParaRPr>
          </a:p>
          <a:p>
            <a:endParaRPr lang="en-IN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43B5D4D-04CB-F2B6-DF0D-DBC65B613DFF}"/>
              </a:ext>
            </a:extLst>
          </p:cNvPr>
          <p:cNvSpPr txBox="1">
            <a:spLocks/>
          </p:cNvSpPr>
          <p:nvPr/>
        </p:nvSpPr>
        <p:spPr>
          <a:xfrm>
            <a:off x="6097815" y="1100909"/>
            <a:ext cx="6868886" cy="446640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2000" b="1">
                <a:latin typeface="Times New Roman"/>
                <a:cs typeface="Times New Roman"/>
              </a:rPr>
              <a:t>Operating System</a:t>
            </a:r>
            <a:endParaRPr lang="en-IN" sz="2000" b="1" dirty="0">
              <a:latin typeface="Times New Roman"/>
              <a:ea typeface="Calibri" panose="020F0502020204030204"/>
              <a:cs typeface="Times New Roman"/>
            </a:endParaRPr>
          </a:p>
          <a:p>
            <a:r>
              <a:rPr lang="en-IN" sz="2000" b="1" dirty="0">
                <a:latin typeface="Times New Roman"/>
                <a:ea typeface="+mn-lt"/>
                <a:cs typeface="Times New Roman"/>
              </a:rPr>
              <a:t>Mobile:</a:t>
            </a:r>
            <a:r>
              <a:rPr lang="en-IN" sz="2000" dirty="0">
                <a:latin typeface="Times New Roman"/>
                <a:ea typeface="+mn-lt"/>
                <a:cs typeface="Times New Roman"/>
              </a:rPr>
              <a:t> Android 8.0 or above</a:t>
            </a:r>
            <a:endParaRPr lang="en-IN" sz="2000">
              <a:latin typeface="Times New Roman"/>
              <a:ea typeface="Calibri"/>
              <a:cs typeface="Times New Roman"/>
            </a:endParaRPr>
          </a:p>
          <a:p>
            <a:r>
              <a:rPr lang="en-IN" sz="2000" b="1" dirty="0">
                <a:latin typeface="Times New Roman"/>
                <a:ea typeface="+mn-lt"/>
                <a:cs typeface="Times New Roman"/>
              </a:rPr>
              <a:t>Development Environment:</a:t>
            </a:r>
            <a:endParaRPr lang="en-IN" sz="2000">
              <a:latin typeface="Times New Roman"/>
              <a:ea typeface="Calibri"/>
              <a:cs typeface="Times New Roman"/>
            </a:endParaRPr>
          </a:p>
          <a:p>
            <a:pPr lvl="1"/>
            <a:r>
              <a:rPr lang="en-IN" sz="2000" dirty="0">
                <a:latin typeface="Times New Roman"/>
                <a:ea typeface="+mn-lt"/>
                <a:cs typeface="Times New Roman"/>
              </a:rPr>
              <a:t>Windows / Linux / macOS</a:t>
            </a:r>
            <a:endParaRPr lang="en-IN" sz="2000">
              <a:latin typeface="Times New Roman"/>
              <a:ea typeface="Calibri"/>
              <a:cs typeface="Times New Roman"/>
            </a:endParaRPr>
          </a:p>
          <a:p>
            <a:pPr lvl="1"/>
            <a:r>
              <a:rPr lang="en-IN" sz="2000">
                <a:latin typeface="Times New Roman"/>
                <a:ea typeface="+mn-lt"/>
                <a:cs typeface="Times New Roman"/>
              </a:rPr>
              <a:t>Visual Studio Code</a:t>
            </a:r>
            <a:br>
              <a:rPr lang="en-US" dirty="0"/>
            </a:br>
            <a:endParaRPr lang="en-US" sz="2000">
              <a:latin typeface="Times New Roman"/>
              <a:ea typeface="Calibri"/>
              <a:cs typeface="Times New Roman"/>
            </a:endParaRPr>
          </a:p>
          <a:p>
            <a:pPr marL="457200" lvl="1" indent="0">
              <a:buNone/>
            </a:pPr>
            <a:r>
              <a:rPr lang="en-IN" sz="2000">
                <a:latin typeface="Times New Roman"/>
                <a:cs typeface="Times New Roman"/>
              </a:rPr>
              <a:t>Third-Party Services</a:t>
            </a:r>
            <a:endParaRPr lang="en-IN" sz="2000">
              <a:latin typeface="Times New Roman"/>
              <a:ea typeface="Calibri"/>
              <a:cs typeface="Times New Roman"/>
            </a:endParaRPr>
          </a:p>
          <a:p>
            <a:r>
              <a:rPr lang="en-IN" sz="2000" b="1" dirty="0">
                <a:latin typeface="Times New Roman"/>
                <a:ea typeface="+mn-lt"/>
                <a:cs typeface="Times New Roman"/>
              </a:rPr>
              <a:t>Google Maps API</a:t>
            </a:r>
            <a:r>
              <a:rPr lang="en-IN" sz="2000" dirty="0">
                <a:latin typeface="Times New Roman"/>
                <a:ea typeface="+mn-lt"/>
                <a:cs typeface="Times New Roman"/>
              </a:rPr>
              <a:t> – Map &amp; route navigation</a:t>
            </a:r>
            <a:endParaRPr lang="en-IN" sz="2000">
              <a:latin typeface="Times New Roman"/>
              <a:ea typeface="Calibri"/>
              <a:cs typeface="Times New Roman"/>
            </a:endParaRPr>
          </a:p>
          <a:p>
            <a:r>
              <a:rPr lang="en-IN" sz="2000" b="1" dirty="0">
                <a:latin typeface="Times New Roman"/>
                <a:ea typeface="+mn-lt"/>
                <a:cs typeface="Times New Roman"/>
              </a:rPr>
              <a:t>Firebase Cloud Messaging (FCM)</a:t>
            </a:r>
            <a:r>
              <a:rPr lang="en-IN" sz="2000" dirty="0">
                <a:latin typeface="Times New Roman"/>
                <a:ea typeface="+mn-lt"/>
                <a:cs typeface="Times New Roman"/>
              </a:rPr>
              <a:t> – Push notifications</a:t>
            </a:r>
            <a:endParaRPr lang="en-IN" sz="2000">
              <a:latin typeface="Times New Roman"/>
              <a:ea typeface="Calibri"/>
              <a:cs typeface="Times New Roman"/>
            </a:endParaRPr>
          </a:p>
          <a:p>
            <a:r>
              <a:rPr lang="en-IN" sz="2000" b="1" dirty="0">
                <a:latin typeface="Times New Roman"/>
                <a:ea typeface="+mn-lt"/>
                <a:cs typeface="Times New Roman"/>
              </a:rPr>
              <a:t>GPS Services</a:t>
            </a:r>
            <a:r>
              <a:rPr lang="en-IN" sz="2000" dirty="0">
                <a:latin typeface="Times New Roman"/>
                <a:ea typeface="+mn-lt"/>
                <a:cs typeface="Times New Roman"/>
              </a:rPr>
              <a:t> – Real-time location tracking</a:t>
            </a:r>
            <a:endParaRPr lang="en-IN" sz="2000">
              <a:latin typeface="Times New Roman"/>
              <a:ea typeface="Calibri"/>
              <a:cs typeface="Times New Roman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/>
                <a:cs typeface="Times New Roman"/>
              </a:rPr>
              <a:t>Network Requirements</a:t>
            </a:r>
            <a:endParaRPr lang="en-IN" sz="2000" b="1">
              <a:latin typeface="Times New Roman"/>
              <a:ea typeface="Calibri"/>
              <a:cs typeface="Times New Roman"/>
            </a:endParaRPr>
          </a:p>
          <a:p>
            <a:r>
              <a:rPr lang="en-IN" sz="2000" dirty="0">
                <a:latin typeface="Times New Roman"/>
                <a:ea typeface="+mn-lt"/>
                <a:cs typeface="Times New Roman"/>
              </a:rPr>
              <a:t>Stable Internet Connection</a:t>
            </a:r>
            <a:endParaRPr lang="en-IN" sz="2000">
              <a:latin typeface="Times New Roman"/>
              <a:ea typeface="Calibri"/>
              <a:cs typeface="Times New Roman"/>
            </a:endParaRPr>
          </a:p>
          <a:p>
            <a:r>
              <a:rPr lang="en-IN" sz="2000" dirty="0">
                <a:latin typeface="Times New Roman"/>
                <a:ea typeface="+mn-lt"/>
                <a:cs typeface="Times New Roman"/>
              </a:rPr>
              <a:t>Minimum </a:t>
            </a:r>
            <a:r>
              <a:rPr lang="en-IN" sz="2000" b="1" dirty="0">
                <a:latin typeface="Times New Roman"/>
                <a:ea typeface="+mn-lt"/>
                <a:cs typeface="Times New Roman"/>
              </a:rPr>
              <a:t>5 Mbps internet speed</a:t>
            </a:r>
            <a:endParaRPr lang="en-IN" sz="2000">
              <a:latin typeface="Times New Roman"/>
              <a:ea typeface="Calibri"/>
              <a:cs typeface="Times New Roman"/>
            </a:endParaRPr>
          </a:p>
          <a:p>
            <a:r>
              <a:rPr lang="en-IN" sz="2000" dirty="0">
                <a:latin typeface="Times New Roman"/>
                <a:ea typeface="+mn-lt"/>
                <a:cs typeface="Times New Roman"/>
              </a:rPr>
              <a:t>Mobile data required for ride tracking</a:t>
            </a:r>
            <a:endParaRPr lang="en-IN" sz="2000" dirty="0">
              <a:latin typeface="Times New Roman"/>
              <a:cs typeface="Times New Roman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sz="2000" dirty="0">
                <a:latin typeface="Times New Roman"/>
                <a:ea typeface="+mn-lt"/>
                <a:cs typeface="Times New Roman"/>
              </a:rPr>
              <a:t>Easy and user-friendly mobile application for customers and drivers</a:t>
            </a:r>
            <a:endParaRPr lang="en-IN" sz="200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>
                <a:latin typeface="Times New Roman"/>
                <a:ea typeface="+mn-lt"/>
                <a:cs typeface="Times New Roman"/>
              </a:rPr>
              <a:t>Real-time GPS tracking and booking status updates</a:t>
            </a:r>
            <a:endParaRPr lang="en-IN" sz="2000">
              <a:latin typeface="Times New Roman"/>
              <a:ea typeface="Calibri"/>
              <a:cs typeface="Times New Roman"/>
            </a:endParaRPr>
          </a:p>
          <a:p>
            <a:endParaRPr lang="en-IN" sz="2000" dirty="0">
              <a:latin typeface="Times New Roman"/>
              <a:ea typeface="Calibri"/>
              <a:cs typeface="Times New Roman"/>
            </a:endParaRPr>
          </a:p>
          <a:p>
            <a:r>
              <a:rPr lang="en-IN" sz="2000" dirty="0">
                <a:latin typeface="Times New Roman"/>
                <a:ea typeface="+mn-lt"/>
                <a:cs typeface="Times New Roman"/>
              </a:rPr>
              <a:t>Secure and automated booking process</a:t>
            </a:r>
            <a:endParaRPr lang="en-IN" sz="2000">
              <a:latin typeface="Times New Roman"/>
              <a:ea typeface="Calibri"/>
              <a:cs typeface="Times New Roman"/>
            </a:endParaRPr>
          </a:p>
          <a:p>
            <a:endParaRPr lang="en-IN" sz="2000" dirty="0">
              <a:latin typeface="Times New Roman"/>
              <a:ea typeface="Calibri"/>
              <a:cs typeface="Times New Roman"/>
            </a:endParaRPr>
          </a:p>
          <a:p>
            <a:r>
              <a:rPr lang="en-IN" sz="2000" dirty="0">
                <a:latin typeface="Times New Roman"/>
                <a:ea typeface="+mn-lt"/>
                <a:cs typeface="Times New Roman"/>
              </a:rPr>
              <a:t>Digital trip history and transparent service flow</a:t>
            </a:r>
            <a:endParaRPr lang="en-IN" sz="2000">
              <a:latin typeface="Times New Roman"/>
              <a:ea typeface="Calibri" panose="020F0502020204030204"/>
              <a:cs typeface="Times New Roman"/>
            </a:endParaRPr>
          </a:p>
          <a:p>
            <a:endParaRPr lang="en-IN" sz="2000" dirty="0">
              <a:latin typeface="Times New Roman"/>
              <a:ea typeface="Calibri" panose="020F0502020204030204"/>
              <a:cs typeface="Times New Roman"/>
            </a:endParaRPr>
          </a:p>
          <a:p>
            <a:r>
              <a:rPr lang="en-IN" sz="2000" dirty="0">
                <a:latin typeface="Times New Roman"/>
                <a:ea typeface="+mn-lt"/>
                <a:cs typeface="Times New Roman"/>
              </a:rPr>
              <a:t>Improved efficiency for both customers and service partners</a:t>
            </a:r>
            <a:endParaRPr lang="en-IN" sz="2000" dirty="0">
              <a:latin typeface="Times New Roman"/>
              <a:cs typeface="Times New Roman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93438"/>
            <a:ext cx="6233887" cy="404912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N" sz="2000">
                <a:latin typeface="Times New Roman"/>
                <a:ea typeface="+mn-lt"/>
                <a:cs typeface="Times New Roman"/>
              </a:rPr>
              <a:t>Customer App</a:t>
            </a:r>
            <a:endParaRPr lang="en-IN" sz="20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IN" sz="2000">
                <a:latin typeface="Times New Roman"/>
                <a:ea typeface="+mn-lt"/>
                <a:cs typeface="Times New Roman"/>
              </a:rPr>
              <a:t> ↓</a:t>
            </a:r>
            <a:endParaRPr lang="en-IN" sz="2000">
              <a:latin typeface="Times New Roman"/>
              <a:ea typeface="Calibri" panose="020F0502020204030204"/>
              <a:cs typeface="Times New Roman"/>
            </a:endParaRPr>
          </a:p>
          <a:p>
            <a:pPr marL="0" indent="0">
              <a:buNone/>
            </a:pPr>
            <a:r>
              <a:rPr lang="en-IN" sz="2000">
                <a:latin typeface="Times New Roman"/>
                <a:ea typeface="+mn-lt"/>
                <a:cs typeface="Times New Roman"/>
              </a:rPr>
              <a:t>Backend Server</a:t>
            </a:r>
            <a:endParaRPr lang="en-IN" sz="2000">
              <a:latin typeface="Times New Roman"/>
              <a:ea typeface="Calibri" panose="020F0502020204030204"/>
              <a:cs typeface="Times New Roman"/>
            </a:endParaRPr>
          </a:p>
          <a:p>
            <a:pPr marL="0" indent="0">
              <a:buNone/>
            </a:pPr>
            <a:r>
              <a:rPr lang="en-IN" sz="2000">
                <a:latin typeface="Times New Roman"/>
                <a:ea typeface="+mn-lt"/>
                <a:cs typeface="Times New Roman"/>
              </a:rPr>
              <a:t> ↓</a:t>
            </a:r>
            <a:endParaRPr lang="en-IN" sz="2000">
              <a:latin typeface="Times New Roman"/>
              <a:ea typeface="Calibri" panose="020F0502020204030204"/>
              <a:cs typeface="Times New Roman"/>
            </a:endParaRPr>
          </a:p>
          <a:p>
            <a:pPr marL="0" indent="0">
              <a:buNone/>
            </a:pPr>
            <a:r>
              <a:rPr lang="en-IN" sz="2000">
                <a:latin typeface="Times New Roman"/>
                <a:ea typeface="+mn-lt"/>
                <a:cs typeface="Times New Roman"/>
              </a:rPr>
              <a:t>PostgreSQL Database</a:t>
            </a:r>
            <a:endParaRPr lang="en-IN" sz="2000">
              <a:latin typeface="Times New Roman"/>
              <a:ea typeface="Calibri" panose="020F0502020204030204"/>
              <a:cs typeface="Times New Roman"/>
            </a:endParaRPr>
          </a:p>
          <a:p>
            <a:pPr marL="0" indent="0">
              <a:buNone/>
            </a:pPr>
            <a:r>
              <a:rPr lang="en-IN" sz="2000">
                <a:latin typeface="Times New Roman"/>
                <a:ea typeface="+mn-lt"/>
                <a:cs typeface="Times New Roman"/>
              </a:rPr>
              <a:t> ↓</a:t>
            </a:r>
            <a:endParaRPr lang="en-IN" sz="2000">
              <a:latin typeface="Times New Roman"/>
              <a:ea typeface="Calibri" panose="020F0502020204030204"/>
              <a:cs typeface="Times New Roman"/>
            </a:endParaRPr>
          </a:p>
          <a:p>
            <a:pPr marL="0" indent="0">
              <a:buNone/>
            </a:pPr>
            <a:r>
              <a:rPr lang="en-IN" sz="2000">
                <a:latin typeface="Times New Roman"/>
                <a:ea typeface="+mn-lt"/>
                <a:cs typeface="Times New Roman"/>
              </a:rPr>
              <a:t>Driver App</a:t>
            </a:r>
            <a:endParaRPr lang="en-IN" sz="2000">
              <a:latin typeface="Times New Roman"/>
              <a:ea typeface="Calibri" panose="020F0502020204030204"/>
              <a:cs typeface="Times New Roman"/>
            </a:endParaRPr>
          </a:p>
          <a:p>
            <a:endParaRPr lang="en-IN" sz="20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IN" sz="2000">
                <a:latin typeface="Times New Roman"/>
                <a:ea typeface="+mn-lt"/>
                <a:cs typeface="Times New Roman"/>
              </a:rPr>
              <a:t>External: Google Maps + Firebase</a:t>
            </a:r>
            <a:endParaRPr lang="en-IN" sz="2000">
              <a:latin typeface="Times New Roman"/>
              <a:ea typeface="Calibri" panose="020F0502020204030204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5432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(At least 50%)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129" y="1048295"/>
            <a:ext cx="10515600" cy="476576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IN" sz="2000" b="1">
                <a:latin typeface="Times New Roman"/>
                <a:ea typeface="+mn-lt"/>
                <a:cs typeface="Times New Roman"/>
              </a:rPr>
              <a:t>Mobile Application</a:t>
            </a:r>
            <a:endParaRPr lang="en-IN" sz="2000">
              <a:latin typeface="Times New Roman"/>
              <a:cs typeface="Times New Roman"/>
            </a:endParaRPr>
          </a:p>
          <a:p>
            <a:r>
              <a:rPr lang="en-IN" sz="2000">
                <a:latin typeface="Times New Roman"/>
                <a:ea typeface="+mn-lt"/>
                <a:cs typeface="Times New Roman"/>
              </a:rPr>
              <a:t>Developed using </a:t>
            </a:r>
            <a:r>
              <a:rPr lang="en-IN" sz="2000" b="1">
                <a:latin typeface="Times New Roman"/>
                <a:ea typeface="+mn-lt"/>
                <a:cs typeface="Times New Roman"/>
              </a:rPr>
              <a:t>Flutter and Dart</a:t>
            </a:r>
            <a:endParaRPr lang="en-IN" sz="2000">
              <a:latin typeface="Times New Roman"/>
              <a:cs typeface="Times New Roman"/>
            </a:endParaRPr>
          </a:p>
          <a:p>
            <a:r>
              <a:rPr lang="en-IN" sz="2000">
                <a:latin typeface="Times New Roman"/>
                <a:ea typeface="+mn-lt"/>
                <a:cs typeface="Times New Roman"/>
              </a:rPr>
              <a:t>Provides interfaces for </a:t>
            </a:r>
            <a:r>
              <a:rPr lang="en-IN" sz="2000" b="1">
                <a:latin typeface="Times New Roman"/>
                <a:ea typeface="+mn-lt"/>
                <a:cs typeface="Times New Roman"/>
              </a:rPr>
              <a:t>Customer and Driver apps</a:t>
            </a:r>
            <a:endParaRPr lang="en-IN" sz="2000">
              <a:latin typeface="Times New Roman"/>
              <a:cs typeface="Times New Roman"/>
            </a:endParaRPr>
          </a:p>
          <a:p>
            <a:r>
              <a:rPr lang="en-IN" sz="2000">
                <a:latin typeface="Times New Roman"/>
                <a:ea typeface="+mn-lt"/>
                <a:cs typeface="Times New Roman"/>
              </a:rPr>
              <a:t>Integrated with </a:t>
            </a:r>
            <a:r>
              <a:rPr lang="en-IN" sz="2000" b="1">
                <a:latin typeface="Times New Roman"/>
                <a:ea typeface="+mn-lt"/>
                <a:cs typeface="Times New Roman"/>
              </a:rPr>
              <a:t>Google Maps for navigation</a:t>
            </a:r>
            <a:endParaRPr lang="en-IN" sz="20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IN" sz="2000" b="1">
                <a:latin typeface="Times New Roman"/>
                <a:ea typeface="+mn-lt"/>
                <a:cs typeface="Times New Roman"/>
              </a:rPr>
              <a:t>Backend Server</a:t>
            </a:r>
            <a:endParaRPr lang="en-IN" sz="2000">
              <a:latin typeface="Times New Roman"/>
              <a:cs typeface="Times New Roman"/>
            </a:endParaRPr>
          </a:p>
          <a:p>
            <a:r>
              <a:rPr lang="en-IN" sz="2000">
                <a:latin typeface="Times New Roman"/>
                <a:ea typeface="+mn-lt"/>
                <a:cs typeface="Times New Roman"/>
              </a:rPr>
              <a:t>Developed using </a:t>
            </a:r>
            <a:r>
              <a:rPr lang="en-IN" sz="2000" b="1">
                <a:latin typeface="Times New Roman"/>
                <a:ea typeface="+mn-lt"/>
                <a:cs typeface="Times New Roman"/>
              </a:rPr>
              <a:t>Node.js and Express.js</a:t>
            </a:r>
            <a:endParaRPr lang="en-IN" sz="2000">
              <a:latin typeface="Times New Roman"/>
              <a:cs typeface="Times New Roman"/>
            </a:endParaRPr>
          </a:p>
          <a:p>
            <a:r>
              <a:rPr lang="en-IN" sz="2000">
                <a:latin typeface="Times New Roman"/>
                <a:ea typeface="+mn-lt"/>
                <a:cs typeface="Times New Roman"/>
              </a:rPr>
              <a:t>Handles </a:t>
            </a:r>
            <a:r>
              <a:rPr lang="en-IN" sz="2000" b="1">
                <a:latin typeface="Times New Roman"/>
                <a:ea typeface="+mn-lt"/>
                <a:cs typeface="Times New Roman"/>
              </a:rPr>
              <a:t>API requests, booking logic, and user management</a:t>
            </a:r>
            <a:endParaRPr lang="en-IN" sz="20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IN" sz="2000" b="1">
                <a:latin typeface="Times New Roman"/>
                <a:ea typeface="+mn-lt"/>
                <a:cs typeface="Times New Roman"/>
              </a:rPr>
              <a:t>Database</a:t>
            </a:r>
            <a:endParaRPr lang="en-IN" sz="2000">
              <a:latin typeface="Times New Roman"/>
              <a:cs typeface="Times New Roman"/>
            </a:endParaRPr>
          </a:p>
          <a:p>
            <a:r>
              <a:rPr lang="en-IN" sz="2000" b="1">
                <a:latin typeface="Times New Roman"/>
                <a:ea typeface="+mn-lt"/>
                <a:cs typeface="Times New Roman"/>
              </a:rPr>
              <a:t>PostgreSQL</a:t>
            </a:r>
            <a:r>
              <a:rPr lang="en-IN" sz="2000">
                <a:latin typeface="Times New Roman"/>
                <a:ea typeface="+mn-lt"/>
                <a:cs typeface="Times New Roman"/>
              </a:rPr>
              <a:t> used for storing user data, ride details, and booking history</a:t>
            </a:r>
            <a:endParaRPr lang="en-IN" sz="20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IN" sz="2000" b="1">
                <a:latin typeface="Times New Roman"/>
                <a:ea typeface="+mn-lt"/>
                <a:cs typeface="Times New Roman"/>
              </a:rPr>
              <a:t>External Services Integration</a:t>
            </a:r>
            <a:endParaRPr lang="en-IN" sz="2000">
              <a:latin typeface="Times New Roman"/>
              <a:cs typeface="Times New Roman"/>
            </a:endParaRPr>
          </a:p>
          <a:p>
            <a:r>
              <a:rPr lang="en-IN" sz="2000" b="1">
                <a:latin typeface="Times New Roman"/>
                <a:ea typeface="+mn-lt"/>
                <a:cs typeface="Times New Roman"/>
              </a:rPr>
              <a:t>Google Maps API</a:t>
            </a:r>
            <a:r>
              <a:rPr lang="en-IN" sz="2000">
                <a:latin typeface="Times New Roman"/>
                <a:ea typeface="+mn-lt"/>
                <a:cs typeface="Times New Roman"/>
              </a:rPr>
              <a:t> for route and location tracking</a:t>
            </a:r>
            <a:endParaRPr lang="en-IN" sz="2000">
              <a:latin typeface="Times New Roman"/>
              <a:cs typeface="Times New Roman"/>
            </a:endParaRPr>
          </a:p>
          <a:p>
            <a:r>
              <a:rPr lang="en-IN" sz="2000" b="1">
                <a:latin typeface="Times New Roman"/>
                <a:ea typeface="+mn-lt"/>
                <a:cs typeface="Times New Roman"/>
              </a:rPr>
              <a:t>Firebase Cloud Messaging (FCM)</a:t>
            </a:r>
            <a:r>
              <a:rPr lang="en-IN" sz="2000">
                <a:latin typeface="Times New Roman"/>
                <a:ea typeface="+mn-lt"/>
                <a:cs typeface="Times New Roman"/>
              </a:rPr>
              <a:t> for push notifications</a:t>
            </a:r>
            <a:endParaRPr lang="en-IN" sz="2000">
              <a:latin typeface="Times New Roman"/>
              <a:cs typeface="Times New Roman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2617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https://github.com/kirangowda73386-code</a:t>
            </a:r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17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7017</TotalTime>
  <Words>1122</Words>
  <Application>Microsoft Office PowerPoint</Application>
  <PresentationFormat>Widescreen</PresentationFormat>
  <Paragraphs>175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System Design</vt:lpstr>
      <vt:lpstr>System Implementation (At least 50%)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sheethal k.s</cp:lastModifiedBy>
  <cp:revision>849</cp:revision>
  <dcterms:created xsi:type="dcterms:W3CDTF">2022-10-14T07:18:17Z</dcterms:created>
  <dcterms:modified xsi:type="dcterms:W3CDTF">2026-03-07T06:45:35Z</dcterms:modified>
</cp:coreProperties>
</file>